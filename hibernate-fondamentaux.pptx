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428bd3f09e473f" /><Relationship Type="http://schemas.openxmlformats.org/officeDocument/2006/relationships/extended-properties" Target="/docProps/app.xml" Id="R8b5e9370d4cd4c71" /><Relationship Type="http://schemas.openxmlformats.org/officeDocument/2006/relationships/officeDocument" Target="/ppt/presentation.xml" Id="Rd406d10815be40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82436c31b640ff"/>
  </p:sldMasterIdLst>
  <p:notesMasterIdLst>
    <p:notesMasterId xmlns:r="http://schemas.openxmlformats.org/officeDocument/2006/relationships" r:id="R81e31f9a4dd441d5"/>
  </p:notesMasterIdLst>
  <p:sldIdLst>
    <p:sldId xmlns:r="http://schemas.openxmlformats.org/officeDocument/2006/relationships" id="256" r:id="Re40b4f775bbe4222"/>
    <p:sldId xmlns:r="http://schemas.openxmlformats.org/officeDocument/2006/relationships" id="257" r:id="Rbb3554b9f4d14ac0"/>
    <p:sldId xmlns:r="http://schemas.openxmlformats.org/officeDocument/2006/relationships" id="258" r:id="R9abfbe16c4fb4486"/>
    <p:sldId xmlns:r="http://schemas.openxmlformats.org/officeDocument/2006/relationships" id="259" r:id="Ra2fb89160fc848c5"/>
    <p:sldId xmlns:r="http://schemas.openxmlformats.org/officeDocument/2006/relationships" id="260" r:id="R5c7a9966da50451a"/>
    <p:sldId xmlns:r="http://schemas.openxmlformats.org/officeDocument/2006/relationships" id="261" r:id="Rded358e4aee6473c"/>
    <p:sldId xmlns:r="http://schemas.openxmlformats.org/officeDocument/2006/relationships" id="262" r:id="R9233e1cfc2a842da"/>
    <p:sldId xmlns:r="http://schemas.openxmlformats.org/officeDocument/2006/relationships" id="263" r:id="R17dd24f0ea3147f3"/>
    <p:sldId xmlns:r="http://schemas.openxmlformats.org/officeDocument/2006/relationships" id="264" r:id="Rd47d0659e8ca4f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2436c31b640ff" /><Relationship Type="http://schemas.openxmlformats.org/officeDocument/2006/relationships/theme" Target="/ppt/theme/theme1.xml" Id="Rfd09c00db27f44cb" /><Relationship Type="http://schemas.openxmlformats.org/officeDocument/2006/relationships/notesMaster" Target="/ppt/notesMasters/notesMaster1.xml" Id="R81e31f9a4dd441d5" /><Relationship Type="http://schemas.openxmlformats.org/officeDocument/2006/relationships/presProps" Target="/ppt/presProps.xml" Id="R497846a3863449e3" /><Relationship Type="http://schemas.openxmlformats.org/officeDocument/2006/relationships/viewProps" Target="/ppt/viewProps.xml" Id="Rb2803f7797014e07" /><Relationship Type="http://schemas.openxmlformats.org/officeDocument/2006/relationships/tableStyles" Target="/ppt/tableStyles.xml" Id="R0d6f3ceb44d945c8" /><Relationship Type="http://schemas.openxmlformats.org/officeDocument/2006/relationships/slide" Target="/ppt/slides/slide1.xml" Id="Re40b4f775bbe4222" /><Relationship Type="http://schemas.openxmlformats.org/officeDocument/2006/relationships/slide" Target="/ppt/slides/slide2.xml" Id="Rbb3554b9f4d14ac0" /><Relationship Type="http://schemas.openxmlformats.org/officeDocument/2006/relationships/slide" Target="/ppt/slides/slide3.xml" Id="R9abfbe16c4fb4486" /><Relationship Type="http://schemas.openxmlformats.org/officeDocument/2006/relationships/slide" Target="/ppt/slides/slide4.xml" Id="Ra2fb89160fc848c5" /><Relationship Type="http://schemas.openxmlformats.org/officeDocument/2006/relationships/slide" Target="/ppt/slides/slide5.xml" Id="R5c7a9966da50451a" /><Relationship Type="http://schemas.openxmlformats.org/officeDocument/2006/relationships/slide" Target="/ppt/slides/slide6.xml" Id="Rded358e4aee6473c" /><Relationship Type="http://schemas.openxmlformats.org/officeDocument/2006/relationships/slide" Target="/ppt/slides/slide7.xml" Id="R9233e1cfc2a842da" /><Relationship Type="http://schemas.openxmlformats.org/officeDocument/2006/relationships/slide" Target="/ppt/slides/slide8.xml" Id="R17dd24f0ea3147f3" /><Relationship Type="http://schemas.openxmlformats.org/officeDocument/2006/relationships/slide" Target="/ppt/slides/slide9.xml" Id="Rd47d0659e8ca4f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e705a0acbf844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8ebc0927064f2d" /><Relationship Type="http://schemas.openxmlformats.org/officeDocument/2006/relationships/notesMaster" Target="/ppt/notesMasters/notesMaster1.xml" Id="R07d6056603f349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39bb6631f6451e" /><Relationship Type="http://schemas.openxmlformats.org/officeDocument/2006/relationships/notesMaster" Target="/ppt/notesMasters/notesMaster1.xml" Id="R3ce09d563b074b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52389c026b4518" /><Relationship Type="http://schemas.openxmlformats.org/officeDocument/2006/relationships/notesMaster" Target="/ppt/notesMasters/notesMaster1.xml" Id="R5268e5f4886349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26f1d83fb64eed" /><Relationship Type="http://schemas.openxmlformats.org/officeDocument/2006/relationships/notesMaster" Target="/ppt/notesMasters/notesMaster1.xml" Id="Re1e72a7ff91443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bfc9dafd764fcd" /><Relationship Type="http://schemas.openxmlformats.org/officeDocument/2006/relationships/notesMaster" Target="/ppt/notesMasters/notesMaster1.xml" Id="Rcf41a9c5b94649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32babc667e4790" /><Relationship Type="http://schemas.openxmlformats.org/officeDocument/2006/relationships/notesMaster" Target="/ppt/notesMasters/notesMaster1.xml" Id="Refd21a969cbe4f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38488646954606" /><Relationship Type="http://schemas.openxmlformats.org/officeDocument/2006/relationships/notesMaster" Target="/ppt/notesMasters/notesMaster1.xml" Id="Rccd349c983c94c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54268cb2ed4297" /><Relationship Type="http://schemas.openxmlformats.org/officeDocument/2006/relationships/notesMaster" Target="/ppt/notesMasters/notesMaster1.xml" Id="R86ca71bbd2174a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0e952fcbae49a2" /><Relationship Type="http://schemas.openxmlformats.org/officeDocument/2006/relationships/notesMaster" Target="/ppt/notesMasters/notesMaster1.xml" Id="Ra93b48e1bc434f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9bf4d81eb40c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daa20cd8daa46ef" /><Relationship Type="http://schemas.openxmlformats.org/officeDocument/2006/relationships/slideLayout" Target="/ppt/slideLayouts/slideLayout2.xml" Id="R8a1df4689dbf4c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df4689dbf4c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d272a4395448c5" /><Relationship Type="http://schemas.openxmlformats.org/officeDocument/2006/relationships/notesSlide" Target="/ppt/notesSlides/notesSlide1.xml" Id="Rbb730502b57143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2391483f1d4f73" /><Relationship Type="http://schemas.openxmlformats.org/officeDocument/2006/relationships/notesSlide" Target="/ppt/notesSlides/notesSlide2.xml" Id="R605f66f0c91c47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c95376bbea447e" /><Relationship Type="http://schemas.openxmlformats.org/officeDocument/2006/relationships/notesSlide" Target="/ppt/notesSlides/notesSlide3.xml" Id="R4965dd3fe49842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89827903c3493e" /><Relationship Type="http://schemas.openxmlformats.org/officeDocument/2006/relationships/notesSlide" Target="/ppt/notesSlides/notesSlide4.xml" Id="R7c289f2dc22b4c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8f6cbe04134a9b" /><Relationship Type="http://schemas.openxmlformats.org/officeDocument/2006/relationships/notesSlide" Target="/ppt/notesSlides/notesSlide5.xml" Id="Re61b3985f4c648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86b863a7f94d1a" /><Relationship Type="http://schemas.openxmlformats.org/officeDocument/2006/relationships/notesSlide" Target="/ppt/notesSlides/notesSlide6.xml" Id="Rd69de5a8cf4941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f2210cd9004934" /><Relationship Type="http://schemas.openxmlformats.org/officeDocument/2006/relationships/notesSlide" Target="/ppt/notesSlides/notesSlide7.xml" Id="R17e5bcf76b2f40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f1221c608746e7" /><Relationship Type="http://schemas.openxmlformats.org/officeDocument/2006/relationships/notesSlide" Target="/ppt/notesSlides/notesSlide8.xml" Id="Rb89a5ed8a72c40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8b7fb0e0124d2e" /><Relationship Type="http://schemas.openxmlformats.org/officeDocument/2006/relationships/notesSlide" Target="/ppt/notesSlides/notesSlide9.xml" Id="R405e54b627ca41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7547248-D679-4AF3-A8C8-720C0DF6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614F2-C2AE-42A1-ADC5-5D9A9620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3C2F6-736C-4243-8C61-EA84819B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2CE95-919B-4B65-B54F-3C041FF1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EAAAF-2E63-44FD-B266-664F83E0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Hibernate sans magie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A36DD-686C-444C-B72F-1E746E3B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85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DED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E6DED2"/>
                </a:solidFill>
                <a:latin typeface="Avenir Next"/>
                <a:ea typeface="Avenir Next"/>
                <a:cs typeface="Avenir Next"/>
              </a:rPr>
              <a:t>Comprendre EntityManager, transactions, caches, hydrated state, dirty checking et flush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0E69D-E3FB-4396-ADB7-DCEF617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A597E-10A0-4C97-984E-71611FD1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92338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DE8D7-5561-4A41-B9A4-C9EB39DC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EntityManager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522BD-EED2-4E46-826E-1116759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rPr>
              <a:t>le poste de travail JPA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BC891-9EC0-4CC6-AE6A-89A5F406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14325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92338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EE99A-EA63-4225-9945-21963FBC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528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Transaction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56EC7-76FD-4A2F-B277-BB01BD5F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147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rPr>
              <a:t>la limite de coherence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A708B-B2D8-44DA-BEFD-06D62DE1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4325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92338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E0F52-58B4-4DF6-ABD6-444B2E59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528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Cache L1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01D0A-DAD0-4113-96FA-6791AE80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rPr>
              <a:t>l'identite Java par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3675D-2E55-42F4-AB5F-19E7EBBD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92338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F34E7-DCFB-49F7-9681-56864BD1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Hydrated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83E27-0469-4781-B16B-318DF4CA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rPr>
              <a:t>la photo initiale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D5D6C-57A5-43FF-BCF6-250852FE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7625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92338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D2839-BA14-4958-812B-96724AC6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720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Dirty checking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CBBA8-8B68-48A9-A06B-0434BF9C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340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rPr>
              <a:t>la comparaison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3BBA25-B816-4570-A3BB-57AB7706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625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92338"/>
          </a:solidFill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FFF76-9B20-418D-A340-A65DE0BE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720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Flush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8BADE-D301-48C8-8D62-D7762F35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340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rPr>
              <a:t>la synchronisation 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A8153-6B9A-4DB3-AFC3-E569C7BF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C4C5CF-EDDE-4544-A351-1C758C3A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7660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Message cle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B8FA0A-D6B6-4514-90CE-3673F4AF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2647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Hibernate synchronise des objets Java avec SQL, mais seulement dans un contexte transactionnel clair.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1C0536-5F51-4810-B17F-BF66A8B9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AAD18D-2ED8-4877-A7DF-CF70869B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Hibernate tutorial • EntityManager, transactions, caches, dirty checking, flush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3CA975-4CEA-42F0-B7DE-F396B9D1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05449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2348599-3FED-4C26-8411-D02DFC96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prstDash val="solid"/>
          </a:ln>
        </p:spPr>
      </p:sp>
      <p:sp>
        <p:nvSpPr>
          <p:cNvPr id="2" name="kicker02-marker">
            <a:extLst xmlns:a="http://schemas.openxmlformats.org/drawingml/2006/main">
              <a:ext uri="{FF2B5EF4-FFF2-40B4-BE49-F238E27FC236}">
                <a16:creationId xmlns:a16="http://schemas.microsoft.com/office/drawing/2014/main" id="{7E97F636-F8B6-4BC5-AE20-695F0CBD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3" name="kicker02-label">
            <a:extLst xmlns:a="http://schemas.openxmlformats.org/drawingml/2006/main">
              <a:ext uri="{FF2B5EF4-FFF2-40B4-BE49-F238E27FC236}">
                <a16:creationId xmlns:a16="http://schemas.microsoft.com/office/drawing/2014/main" id="{CBBBB704-3798-4324-B1B4-C28579C1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ENTITYMANAGER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2F0AF-42DD-4347-853C-B8E5616B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L'EntityManager est le poste de travail d'Hibernate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C76D3-DD4C-47A1-A1CA-9EBE7C74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Il garde les entites suivies, leur identite Java et les changements en attente.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002E4-E8BF-4C4C-8BDE-1BD20727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571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9D8AC-AAFB-4AC4-A2B8-1D12B145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Code 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28FD5-0D34-45CD-8EF7-E49DFBF4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repository.findById(id)</a:t>
            </a:r>
          </a:p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product.setPrice(...)</a:t>
            </a:r>
          </a:p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entityManager.flush()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72537-EF23-47F0-944C-99B931AA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5D620-D77D-4319-992F-7F02ABDE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9550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EntityManager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E2550-68B0-4BE6-ACE1-15A937D0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95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D2E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C9D2E3"/>
                </a:solidFill>
                <a:latin typeface="Avenir Next"/>
                <a:ea typeface="Avenir Next"/>
                <a:cs typeface="Avenir Next"/>
              </a:rPr>
              <a:t>Persistence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8227D-FD2F-4AC3-9B1E-DC05D9F2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2338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E2189-45AC-4DBA-BE58-726BBF65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861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Product#1 -&gt; instance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B1080-397E-4491-AD34-A035AC5B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433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2338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3C688-D58C-40BF-B21D-A7D890CC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766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Order#7 -&gt; instance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97BD6-CB74-4D98-AF51-5AB38AD0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24100"/>
            <a:ext cx="2381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C7B3A-3606-452E-99F3-AC0F26DD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336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Base 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CCED9-1D20-4A03-9B07-125F9306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2895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SELECT</a:t>
            </a:r>
          </a:p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INSERT</a:t>
            </a:r>
          </a:p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UPDATE</a:t>
            </a:r>
          </a:p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4FF89-1561-4B59-8C98-6B7CF644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6C4A1-AB6E-4948-9766-9A1A31D8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766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B5857-2120-4180-BE40-15C5D4B8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3524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0BEFF-D5C7-440C-BBB3-08D0F396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72075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1 EntityManager par contexte transactionnel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24266-316E-497B-9B70-E54981AD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 retenir: ce n'est pas une connexion JDBC. C'est l'interface JPA qui pilote le contexte de persistance.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C3C092-F76D-4F3F-A2F4-1FAC453C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4248D-6F6D-4CE3-A45C-582FB5AA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Hibernate tutorial • EntityManager, transactions, caches, dirty checking,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2D95A-BDC2-468B-949E-5F2B12A3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43131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041F904-E520-485D-9DD6-F6750D2E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prstDash val="solid"/>
          </a:ln>
        </p:spPr>
      </p:sp>
      <p:sp>
        <p:nvSpPr>
          <p:cNvPr id="2" name="kicker03-marker">
            <a:extLst xmlns:a="http://schemas.openxmlformats.org/drawingml/2006/main">
              <a:ext uri="{FF2B5EF4-FFF2-40B4-BE49-F238E27FC236}">
                <a16:creationId xmlns:a16="http://schemas.microsoft.com/office/drawing/2014/main" id="{9B4055E2-CAD4-43FA-87CE-28DCE47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3" name="kicker03-label">
            <a:extLst xmlns:a="http://schemas.openxmlformats.org/drawingml/2006/main">
              <a:ext uri="{FF2B5EF4-FFF2-40B4-BE49-F238E27FC236}">
                <a16:creationId xmlns:a16="http://schemas.microsoft.com/office/drawing/2014/main" id="{2D6DD792-9C0A-42EC-8C75-08A02CD6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TRANSACTION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E396C-E8B8-4F2F-903C-D5BC392E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La transaction donne une limite a ce que Hibernate doit garantir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82CEC-D38B-4845-9C86-6D5FF9C3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Elle regroupe lectures, modifications et flush dans une unite de travail coherente.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D0913-AD95-4A07-ACD7-528053AA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619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2C51F-BE85-4A0C-899C-E48915F9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BEGIN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A100C-1AC7-4904-B0FA-C9C201C0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ouvre le contexte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CD490-DD7C-4880-9D68-66E71254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956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55652-6809-4FAB-B9B1-85C260CD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1619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061FC-87DF-4F18-A879-792B7AF9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72C49-BF4E-48E8-BAE9-D457FEB2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charge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1C705-248E-41AD-8C47-2FDD875C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956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50D44-FB02-43C3-8ED9-F1145990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86050"/>
            <a:ext cx="1619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5DC05-0EBA-4A25-B76B-B357B16B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14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setPrice(...)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7AD83-6742-4666-9B70-FC820F87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337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modifie l'objet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E43DC-ABDA-4038-A856-FCA18C7A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956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CE1E4-2B58-4E19-9B39-261A0F1F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1619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D07BF-3199-4F6A-ABA0-BF83B1E4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F3160-C5CA-428F-97E5-B54C2478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flush puis commit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971BE-7967-4A1D-8CAB-678949FF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762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E7DC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79AAF-7219-4193-A86B-3830423B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38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F2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47F2C"/>
                </a:solidFill>
                <a:latin typeface="Avenir Next"/>
                <a:ea typeface="Avenir Next"/>
                <a:cs typeface="Avenir Next"/>
              </a:rPr>
              <a:t>Cas d'usage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56684-F082-4CD6-84F2-03B53405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Si une exception arrive avant COMMIT, la transaction rollback: les changements en memoire ne deviennent pas des donnees persistantes.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F9577-6333-420A-9D4A-36780708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53100"/>
            <a:ext cx="7000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749D68-B27F-4DB5-BA27-2EF9A94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19775"/>
            <a:ext cx="6772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84A3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B84A3A"/>
                </a:solidFill>
                <a:latin typeface="Avenir Next"/>
                <a:ea typeface="Avenir Next"/>
                <a:cs typeface="Avenir Next"/>
              </a:rPr>
              <a:t>Sans transaction claire: entites detachees, lazy loading fragile, flush imprevisible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C9729-F83A-4956-A935-95C27532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3180B3-304D-4F13-A6A0-9129FB93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Hibernate tutorial • EntityManager, transactions, caches, dirty checking, flush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12358-8A82-4665-860F-C576F22E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8368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BED7D0F-8889-4896-9E85-523B9F9A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prstDash val="solid"/>
          </a:ln>
        </p:spPr>
      </p:sp>
      <p:sp>
        <p:nvSpPr>
          <p:cNvPr id="2" name="kicker04-marker">
            <a:extLst xmlns:a="http://schemas.openxmlformats.org/drawingml/2006/main">
              <a:ext uri="{FF2B5EF4-FFF2-40B4-BE49-F238E27FC236}">
                <a16:creationId xmlns:a16="http://schemas.microsoft.com/office/drawing/2014/main" id="{C3595BA2-BAC6-4F85-828C-9551F34A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3" name="kicker04-label">
            <a:extLst xmlns:a="http://schemas.openxmlformats.org/drawingml/2006/main">
              <a:ext uri="{FF2B5EF4-FFF2-40B4-BE49-F238E27FC236}">
                <a16:creationId xmlns:a16="http://schemas.microsoft.com/office/drawing/2014/main" id="{7C36465E-F314-4A51-A176-7468538B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CACHES ET 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FB181-93B9-4146-81D7-1E820EA9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Hibernate ne remplace pas la base: il orchestre plusieurs niveaux de memoire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EB295-0E88-4E89-B68F-47013D19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La base reste la source durable; les caches reduisent le travail et preservent l'identite des objets.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05DE8-84C7-4CE1-9FC9-DCFC2870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2E048-BACC-408F-A7B9-F6EA4EE5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Code 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5221A-04AC-49E0-8EAB-0BBEA87C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p = repo.findById(1)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p.setPrice(120)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AE596-769F-4B54-ABA4-414384BD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0CE76-3480-4429-B643-32642DB8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Cache L1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688C8-4DCC-4906-85A5-EE9C90CF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rPr>
              <a:t>Dans l'EntityManager</a:t>
            </a:r>
          </a:p>
          <a:p xmlns:a="http://schemas.openxmlformats.org/drawingml/2006/main">
            <a:pPr algn="l">
              <a:def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9D2E3"/>
                </a:solidFill>
                <a:latin typeface="Avenir Next"/>
                <a:ea typeface="Avenir Next"/>
                <a:cs typeface="Avenir Next"/>
              </a:rPr>
              <a:t>Obligatoire, par 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3514B-0DF3-4FDC-A6E3-8EB1EB7C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9090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A8B86-2B4D-44C6-9442-CC4D0F33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Cache L2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FA70C-3C8F-46B6-A357-306A31A3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Optionnel, partageable</a:t>
            </a:r>
          </a:p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Region par entite/configuration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BC664-C24C-43DA-9477-FDAF005D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2571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1ACB8-5922-49CE-A866-59D6F123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09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A7D44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3A7D44"/>
                </a:solidFill>
                <a:latin typeface="Georgia"/>
                <a:ea typeface="Georgia"/>
                <a:cs typeface="Georgia"/>
              </a:rPr>
              <a:t>Base de donnees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4D4CF-2686-4A9E-8CE3-2C14117E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Donnees durables</a:t>
            </a:r>
          </a:p>
          <a:p xmlns:a="http://schemas.openxmlformats.org/drawingml/2006/main">
            <a:pPr algn="l">
              <a:defRPr sz="120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Contraintes</a:t>
            </a:r>
          </a:p>
          <a:p xmlns:a="http://schemas.openxmlformats.org/drawingml/2006/main">
            <a:pPr algn="l">
              <a:defRPr sz="120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Transactions 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1A9F6-49CE-47E3-A266-20EBDEC2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099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81D18-6E7D-4140-BF42-7D23720A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338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9CD5F-D692-4703-84F0-38C5EAD6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241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C7F8D-F3B8-4A5A-8FDF-DD1ECFD4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052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33AFB-B927-47C2-9FB7-A5326EBF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Le L1 garantit l'identite Java. Le L2 peut eviter certains allers-retours base, mais il ne remplace pas les transactions.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BBC7C-CDF9-4ECC-9CBA-592F1E02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1C856-7E8B-4D33-8B6E-038B5DC8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Hibernate tutorial • EntityManager, transactions, caches, dirty checking, flush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873E28-8D16-448F-8978-288B6052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20020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5768622-33A1-48C7-A28A-AFBEF953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prstDash val="solid"/>
          </a:ln>
        </p:spPr>
      </p:sp>
      <p:sp>
        <p:nvSpPr>
          <p:cNvPr id="2" name="kicker05-marker">
            <a:extLst xmlns:a="http://schemas.openxmlformats.org/drawingml/2006/main">
              <a:ext uri="{FF2B5EF4-FFF2-40B4-BE49-F238E27FC236}">
                <a16:creationId xmlns:a16="http://schemas.microsoft.com/office/drawing/2014/main" id="{3AA3F2B7-917F-4B14-845D-9139AC84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3" name="kicker05-label">
            <a:extLst xmlns:a="http://schemas.openxmlformats.org/drawingml/2006/main">
              <a:ext uri="{FF2B5EF4-FFF2-40B4-BE49-F238E27FC236}">
                <a16:creationId xmlns:a16="http://schemas.microsoft.com/office/drawing/2014/main" id="{6F3A95EF-E137-4135-837B-90870D82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CACHE L1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9ABD3-B5DD-4605-B09B-B2417322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Le cache de premier niveau est une identity map par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82A88-109E-422D-B6F0-96D6D945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Il ne repond pas a toutes les requetes, mais il garantit une seule instance Java pour une meme ligne.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C4B7F-8209-424A-97D1-7AFDC01D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9A10E-879C-4DBB-B182-47A65EA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findById(1)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62936-79BD-458B-A2B7-09808FDD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1er appel: SELECT</a:t>
            </a:r>
          </a:p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2e appel: pas de SELECT</a:t>
            </a:r>
          </a:p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car la cle primaire est deja connue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1996F-38A9-40A2-8517-DFD6D468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755B3-003E-4D43-89ED-96AD999E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38625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Product#1 -&gt; instance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665F0-C637-407A-98E7-D6AE81E0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241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83185-EF26-4A37-AB17-D1137239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717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findBySku('ABC')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E3D29-8436-4A27-AE4E-106293A0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861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1er appel: SELECT</a:t>
            </a:r>
          </a:p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2e appel: SELECT aussi</a:t>
            </a:r>
          </a:p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mais Hibernate reutilise l'instance si l'id est deja manage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2CD23-38E2-4865-88DB-2A5E181F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7195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FEABA-DCE4-445A-A73B-B51F171F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3862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47F2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C47F2C"/>
                </a:solidFill>
                <a:latin typeface="Avenir Next"/>
                <a:ea typeface="Avenir Next"/>
                <a:cs typeface="Avenir Next"/>
              </a:rPr>
              <a:t>meme Product#1 -&gt; instance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2C660-2238-42C6-B334-D1D8E4D6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24100"/>
            <a:ext cx="2190750" cy="2381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208D1-BF94-4A87-B55E-FCD2A4BD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Mecanisme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B1857-CE3F-41F3-82CE-3FC1DE30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Cle du cache:</a:t>
            </a:r>
          </a:p>
          <a:p xmlns:a="http://schemas.openxmlformats.org/drawingml/2006/main">
            <a:pPr algn="l">
              <a:defRPr sz="1275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(EntityClass, id)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Pas:</a:t>
            </a:r>
          </a:p>
          <a:p xmlns:a="http://schemas.openxmlformats.org/drawingml/2006/main">
            <a:pPr algn="l">
              <a:defRPr sz="1275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(EntityClass, sku)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34D1D-6790-44FE-A3A6-FF5A82A5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E1F38-CC5F-4947-BFA3-704CEF87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Hibernate tutorial • EntityManager, transactions, caches, dirty checking, flush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54915-56D1-4FAD-AAAE-EE9C80C0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6005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BD3788E-BCE2-4150-8829-A0C3F28A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prstDash val="solid"/>
          </a:ln>
        </p:spPr>
      </p:sp>
      <p:sp>
        <p:nvSpPr>
          <p:cNvPr id="2" name="kicker06-marker">
            <a:extLst xmlns:a="http://schemas.openxmlformats.org/drawingml/2006/main">
              <a:ext uri="{FF2B5EF4-FFF2-40B4-BE49-F238E27FC236}">
                <a16:creationId xmlns:a16="http://schemas.microsoft.com/office/drawing/2014/main" id="{007A82AF-EEDA-4EC3-86F7-E9E2AF18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3" name="kicker06-label">
            <a:extLst xmlns:a="http://schemas.openxmlformats.org/drawingml/2006/main">
              <a:ext uri="{FF2B5EF4-FFF2-40B4-BE49-F238E27FC236}">
                <a16:creationId xmlns:a16="http://schemas.microsoft.com/office/drawing/2014/main" id="{D062C2B9-F028-4368-A15E-D6DE8767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HYDRATED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2B75D-AE86-42BE-B355-DF7520C3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L'hydrated state est la photo initiale gardee par Hibernate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472E1-E963-4A47-8B9C-93F54AD3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Quand une entite est chargee, Hibernate garde aussi un snapshot interne de ses colonnes.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33ACC-9890-473D-B812-D728C6EF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095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0E796-7E3C-4A15-A2DE-CDCFE04B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Objet Java manage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371B0-E86C-4979-8942-3384A6D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3048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{</a:t>
            </a:r>
          </a:p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  id: 1,</a:t>
            </a:r>
          </a:p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  name: 'Laptop',</a:t>
            </a:r>
          </a:p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  price: 100</a:t>
            </a:r>
          </a:p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EF257-8F85-42DB-AC8B-14822011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4095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B5A9B-B041-4644-BDD9-E365BDD7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146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Snapshot interne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EEEA5-7A60-483C-BC1D-AB5F19FE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3048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hydrated state = [</a:t>
            </a:r>
          </a:p>
          <a:p xmlns:a="http://schemas.openxmlformats.org/drawingml/2006/main">
            <a:pPr algn="l">
              <a:defRPr sz="1650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  id: 1,</a:t>
            </a:r>
          </a:p>
          <a:p xmlns:a="http://schemas.openxmlformats.org/drawingml/2006/main">
            <a:pPr algn="l">
              <a:defRPr sz="1650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  name: 'Laptop',</a:t>
            </a:r>
          </a:p>
          <a:p xmlns:a="http://schemas.openxmlformats.org/drawingml/2006/main">
            <a:pPr algn="l">
              <a:defRPr sz="1650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  price: 100</a:t>
            </a:r>
          </a:p>
          <a:p xmlns:a="http://schemas.openxmlformats.org/drawingml/2006/main">
            <a:pPr algn="l">
              <a:defRPr sz="1650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91FE7-16D6-41FF-ACCA-9D471D4A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62350"/>
            <a:ext cx="179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B9608-9855-4D36-9E27-D562FEE4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91150"/>
            <a:ext cx="838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Ce snapshot coute de la memoire, mais il permet a Hibernate de detecter les changements sans que vous appeliez update().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10D5C-285A-4BCF-AD60-63DCFA30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55D4F-4ACE-4FAF-BA25-773DCB73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Hibernate tutorial • EntityManager, transactions, caches, dirty checking, flush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825E9-4DBD-49F5-81B2-1C992F18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44021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61C3E83-BB40-4592-99E1-842218BF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prstDash val="solid"/>
          </a:ln>
        </p:spPr>
      </p:sp>
      <p:sp>
        <p:nvSpPr>
          <p:cNvPr id="2" name="kicker07-marker">
            <a:extLst xmlns:a="http://schemas.openxmlformats.org/drawingml/2006/main">
              <a:ext uri="{FF2B5EF4-FFF2-40B4-BE49-F238E27FC236}">
                <a16:creationId xmlns:a16="http://schemas.microsoft.com/office/drawing/2014/main" id="{B5E13B0D-AE24-4E44-BDCF-4A870804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3" name="kicker07-label">
            <a:extLst xmlns:a="http://schemas.openxmlformats.org/drawingml/2006/main">
              <a:ext uri="{FF2B5EF4-FFF2-40B4-BE49-F238E27FC236}">
                <a16:creationId xmlns:a16="http://schemas.microsoft.com/office/drawing/2014/main" id="{936C076C-3882-417F-8DCA-664EF418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DIRTY CHECKING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43D9F-B09D-478D-B493-83719D00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Le dirty checking compare la photo initiale avec l'etat actuel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DC8A3-EBF1-44DF-ADF3-30B034DA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Une entite est dirty si au moins une valeur persistante a change dans le Persistence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347D1-25D2-4DEA-B480-7BACF8BC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75B04-111F-4DCD-A8BD-005C11A7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Hydrated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697F0-F83D-483F-8075-39ABC1B3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price = 100</a:t>
            </a:r>
          </a:p>
          <a:p xmlns:a="http://schemas.openxmlformats.org/drawingml/2006/main">
            <a:pPr algn="l">
              <a:defRPr sz="180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stock =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7A70D-B7CB-481D-8F2C-132D09E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57D1E-CBC1-4A01-8683-B89CE0D0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Etat courant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10415-EB51-4716-B620-5B391F80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price = 120</a:t>
            </a:r>
          </a:p>
          <a:p xmlns:a="http://schemas.openxmlformats.org/drawingml/2006/main">
            <a:pPr algn="l">
              <a:defRPr sz="180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stock = 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AA065-0841-42D0-B98E-EB2D2EA0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D1953-3FFE-42B0-BDAD-3EB2EE51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Resultat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8F0D1-E362-4039-A212-F17D274A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81350"/>
            <a:ext cx="190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price a change</a:t>
            </a:r>
          </a:p>
          <a:p xmlns:a="http://schemas.openxmlformats.org/drawingml/2006/main">
            <a:pPr algn="l">
              <a:defRPr sz="1500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=&gt; entite dirty</a:t>
            </a:r>
          </a:p>
          <a:p xmlns:a="http://schemas.openxmlformats.org/drawingml/2006/main">
            <a:pPr algn="l">
              <a:defRPr sz="1500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=&gt; UPDATE possible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AFD1C-C870-436D-A5D4-9CF9221B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3EAE7-DD34-48CA-8EFF-7334DB80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B172B-CA73-4B57-987C-D707F177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Dirty ne veut pas dire 'deja en base'. Cela veut seulement dire: Hibernate a detecte une difference a synchroniser.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06250-E5D6-4D50-A83E-4549CAE2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436D4-CCDC-429D-BFCC-2A548EDB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Hibernate tutorial • EntityManager, transactions, caches, dirty checking, flush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26585-AD5A-43A4-85BF-9EA5B8A5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99900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5AD8B01-4063-44DC-8AF2-E025428D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prstDash val="solid"/>
          </a:ln>
        </p:spPr>
      </p:sp>
      <p:sp>
        <p:nvSpPr>
          <p:cNvPr id="2" name="kicker08-marker">
            <a:extLst xmlns:a="http://schemas.openxmlformats.org/drawingml/2006/main">
              <a:ext uri="{FF2B5EF4-FFF2-40B4-BE49-F238E27FC236}">
                <a16:creationId xmlns:a16="http://schemas.microsoft.com/office/drawing/2014/main" id="{ADFF3D28-61E1-4250-8D88-EF2FF5B2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3" name="kicker08-label">
            <a:extLst xmlns:a="http://schemas.openxmlformats.org/drawingml/2006/main">
              <a:ext uri="{FF2B5EF4-FFF2-40B4-BE49-F238E27FC236}">
                <a16:creationId xmlns:a16="http://schemas.microsoft.com/office/drawing/2014/main" id="{3DF43601-B37A-4A49-BD20-7F25EA40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FLUSH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67457-D998-43D7-8DE0-CD25EFD2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Le flush transforme les differences detectees en 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0BDA3-0ADD-486E-B921-69AA7061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Le dirty checking prepare le constat; le flush synchronise ce constat avec la 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0685C-07E1-425D-B701-F905AECC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428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0A52F-9B6E-42CE-82BC-8D9BB0F3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4D068-102E-40CE-A3B5-E9422139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snapshot cree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7534B-70F9-4CE3-84D9-CE9E6D70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1E4C6-1B05-4CB7-9EF4-C5E5C297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52700"/>
            <a:ext cx="1428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E5415-7C84-424C-A446-12690392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813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setter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80CBD-8141-407F-A696-BA8025EA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194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etat courant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31644-AAA2-4F44-A426-323D4E4E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9925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18939-ED5B-43DE-9708-2D7D71F6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52700"/>
            <a:ext cx="1428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EB73A-AEC2-41EA-8FBA-FE15A9CE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813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dirty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DF67B-EC4F-4FB5-BB6E-19A6BFA5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194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F8DB0-2691-4DBC-997A-67DE007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9925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2B37E-B484-437F-AD44-DEE80948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1428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72314-AE84-4C75-8914-6D044BDA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flush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439C9-5EC3-4E6B-9D9D-28461A19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synchronise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CAADB-240E-49CB-85A5-81516C4C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9925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FFF10-2B90-4BE8-99EF-DFFB7C54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52700"/>
            <a:ext cx="1428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FDA6F-6453-4A6F-AB04-C75028C6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813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B7C2C-318D-4548-8CCD-3BB65F14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194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406BA9-18BB-44C8-A4F7-37E17D69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904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E7DC"/>
          </a:solidFill>
          <a:ln xmlns:a="http://schemas.openxmlformats.org/drawingml/2006/main" w="0"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DAE95-7863-4004-A4DA-FFD28CAC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5775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Le flush peut arriver avant une requete JPQL, au commit, ou manuellement avec entityManager.flush().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E825E-B578-474B-87FC-ACD9713E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4A3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B84A3A"/>
                </a:solidFill>
                <a:latin typeface="Avenir Next"/>
                <a:ea typeface="Avenir Next"/>
                <a:cs typeface="Avenir Next"/>
              </a:rPr>
              <a:t>Flush != commit: un flush envoie du SQL, mais la transaction peut encore rollback.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30337F-B3C7-47F6-B033-D3DBB56F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247A11-9EF5-409D-B227-0D1D01DF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Hibernate tutorial • EntityManager, transactions, caches, dirty checking, flush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FA741-6D43-4C28-B858-B9D82906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43255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4F41409-68A9-424A-8CD0-F19E0883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prstDash val="solid"/>
          </a:ln>
        </p:spPr>
      </p:sp>
      <p:sp>
        <p:nvSpPr>
          <p:cNvPr id="2" name="kicker09-marker">
            <a:extLst xmlns:a="http://schemas.openxmlformats.org/drawingml/2006/main">
              <a:ext uri="{FF2B5EF4-FFF2-40B4-BE49-F238E27FC236}">
                <a16:creationId xmlns:a16="http://schemas.microsoft.com/office/drawing/2014/main" id="{9C139B92-3F09-4066-A734-1392D9CA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prstDash val="solid"/>
          </a:ln>
        </p:spPr>
      </p:sp>
      <p:sp>
        <p:nvSpPr>
          <p:cNvPr id="3" name="kicker09-label">
            <a:extLst xmlns:a="http://schemas.openxmlformats.org/drawingml/2006/main">
              <a:ext uri="{FF2B5EF4-FFF2-40B4-BE49-F238E27FC236}">
                <a16:creationId xmlns:a16="http://schemas.microsoft.com/office/drawing/2014/main" id="{766D013B-050C-4566-BAC9-4E1CD9EC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RECAP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E693C-B712-451D-9D18-DCC1DE4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La sequence a retenir tient en six verbes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AB129-412D-409A-AB78-A8824352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Si cette chaine est claire, les comportements Hibernate deviennent beaucoup plus previsibles.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E6489-11C3-4F43-938E-EFE75379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95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4D1AB-B873-40F2-A8EA-63922470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1. Charger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DC3C9-21CD-45DF-9AE0-A42264D8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EntityManager cree une entite managee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83B73-F4DA-4FA6-B3FF-155AEE49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295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FA44A-3ABA-40FE-A6E4-1D96F820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2. Photographier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EBAE3-1483-4DB2-8660-2BA60D78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9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Hibernate garde l'hydrated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97F31-AF0F-4368-8118-4BEF5C78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95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AB104-0B69-44E6-A9D2-22B6BBB5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3. Modifier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0104D-6101-434A-9C0D-BB9FF629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un setter change l'objet Java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C02FC-6667-42EE-854A-832E521A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295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C42AA-6CDB-4095-BD14-60BED22E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719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4. Comparer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7405A-0075-48B5-BB12-DF795A9E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720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dirty checking detecte l'ecart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7ED96-ECF0-435F-A85C-D758D0FD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43375"/>
            <a:ext cx="295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1E916-8863-401B-BF88-3838540B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719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5. Flusher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E85AA-7307-4871-A0AC-5271E099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720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5F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DDE5F2"/>
                </a:solidFill>
                <a:latin typeface="Avenir Next"/>
                <a:ea typeface="Avenir Next"/>
                <a:cs typeface="Avenir Next"/>
              </a:rPr>
              <a:t>Hibernate genere le 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54176-1AA0-445A-A498-497B1A04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43375"/>
            <a:ext cx="295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C9225C-74A9-4CFF-B443-15BCBBC7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719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6. Commit/Rollback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18175-2864-4D04-B4C1-2F62F1A3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720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la transaction rend durable ou annule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B9F72F-F708-4A02-9E75-E6BDDA18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95950"/>
            <a:ext cx="6762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A42E0-5DAD-4BF3-B6F5-B2BDAE5D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762625"/>
            <a:ext cx="6534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Pratique: observez les logs SQL et le nombre d'entites managees pendant vos demos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CFBDA-C04B-49CD-8987-5CA815AF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8F4067-4CEE-4BA2-8A88-9DB542B6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Hibernate tutorial • EntityManager, transactions, caches, dirty checking, flush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55FB43-DC18-467A-9A2D-D287930B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4428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2026-05-03T19:09:42.3830000Z</dcterms:created>
  <dcterms:modified xsi:type="dcterms:W3CDTF">2026-05-03T19:09:42.3830000Z</dcterms:modified>
</coreProperties>
</file>